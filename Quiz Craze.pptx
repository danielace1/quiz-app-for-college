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Work Sans Ultra-Bold Italics" charset="1" panose="00000000000000000000"/>
      <p:regular r:id="rId16"/>
    </p:embeddedFont>
    <p:embeddedFont>
      <p:font typeface="ITC Benguiat Italics" charset="1" panose="02030604050306090704"/>
      <p:regular r:id="rId17"/>
    </p:embeddedFont>
    <p:embeddedFont>
      <p:font typeface="Futura Bold" charset="1" panose="020B0702020204020203"/>
      <p:regular r:id="rId18"/>
    </p:embeddedFont>
    <p:embeddedFont>
      <p:font typeface="Varela Round" charset="1" panose="00000500000000000000"/>
      <p:regular r:id="rId19"/>
    </p:embeddedFont>
    <p:embeddedFont>
      <p:font typeface="Lato Bold Italics" charset="1" panose="020F0502020204030203"/>
      <p:regular r:id="rId20"/>
    </p:embeddedFont>
    <p:embeddedFont>
      <p:font typeface="Lato Italics" charset="1" panose="020F0502020204030203"/>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https://quiz-craze-pi.vercel.app"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0.png" Type="http://schemas.openxmlformats.org/officeDocument/2006/relationships/image"/><Relationship Id="rId11" Target="../media/image11.png" Type="http://schemas.openxmlformats.org/officeDocument/2006/relationships/image"/><Relationship Id="rId12" Target="../media/image12.png" Type="http://schemas.openxmlformats.org/officeDocument/2006/relationships/image"/><Relationship Id="rId13" Target="../media/image13.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11" Target="../media/image15.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6.png" Type="http://schemas.openxmlformats.org/officeDocument/2006/relationships/image"/><Relationship Id="rId11" Target="../media/image17.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8.png" Type="http://schemas.openxmlformats.org/officeDocument/2006/relationships/image"/><Relationship Id="rId11" Target="../media/image19.png" Type="http://schemas.openxmlformats.org/officeDocument/2006/relationships/image"/><Relationship Id="rId12" Target="../media/image20.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1.pn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https://quiz-craze-pi.vercel.app" TargetMode="External" Type="http://schemas.openxmlformats.org/officeDocument/2006/relationships/hyperlink"/><Relationship Id="rId11" Target="https://github.com/danielace1/quiz-app-for-college" TargetMode="External" Type="http://schemas.openxmlformats.org/officeDocument/2006/relationships/hyperlink"/><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826419" y="537409"/>
            <a:ext cx="14123570" cy="8708191"/>
            <a:chOff x="0" y="0"/>
            <a:chExt cx="18831426" cy="11610922"/>
          </a:xfrm>
        </p:grpSpPr>
        <p:sp>
          <p:nvSpPr>
            <p:cNvPr name="TextBox 4" id="4"/>
            <p:cNvSpPr txBox="true"/>
            <p:nvPr/>
          </p:nvSpPr>
          <p:spPr>
            <a:xfrm rot="0">
              <a:off x="0" y="2019300"/>
              <a:ext cx="18831426" cy="6595080"/>
            </a:xfrm>
            <a:prstGeom prst="rect">
              <a:avLst/>
            </a:prstGeom>
          </p:spPr>
          <p:txBody>
            <a:bodyPr anchor="t" rtlCol="false" tIns="0" lIns="0" bIns="0" rIns="0">
              <a:spAutoFit/>
            </a:bodyPr>
            <a:lstStyle/>
            <a:p>
              <a:pPr algn="ctr">
                <a:lnSpc>
                  <a:spcPts val="29732"/>
                </a:lnSpc>
              </a:pPr>
              <a:r>
                <a:rPr lang="en-US" b="true" sz="42475" i="true" spc="-6286">
                  <a:solidFill>
                    <a:srgbClr val="7F8F9D">
                      <a:alpha val="14902"/>
                    </a:srgbClr>
                  </a:solidFill>
                  <a:latin typeface="Work Sans Ultra-Bold Italics"/>
                  <a:ea typeface="Work Sans Ultra-Bold Italics"/>
                  <a:cs typeface="Work Sans Ultra-Bold Italics"/>
                  <a:sym typeface="Work Sans Ultra-Bold Italics"/>
                </a:rPr>
                <a:t>TECH</a:t>
              </a:r>
            </a:p>
          </p:txBody>
        </p:sp>
        <p:sp>
          <p:nvSpPr>
            <p:cNvPr name="TextBox 5" id="5"/>
            <p:cNvSpPr txBox="true"/>
            <p:nvPr/>
          </p:nvSpPr>
          <p:spPr>
            <a:xfrm rot="0">
              <a:off x="467483" y="7240270"/>
              <a:ext cx="15882787" cy="4370652"/>
            </a:xfrm>
            <a:prstGeom prst="rect">
              <a:avLst/>
            </a:prstGeom>
          </p:spPr>
          <p:txBody>
            <a:bodyPr anchor="t" rtlCol="false" tIns="0" lIns="0" bIns="0" rIns="0">
              <a:spAutoFit/>
            </a:bodyPr>
            <a:lstStyle/>
            <a:p>
              <a:pPr algn="ctr">
                <a:lnSpc>
                  <a:spcPts val="18490"/>
                </a:lnSpc>
              </a:pPr>
              <a:r>
                <a:rPr lang="en-US" sz="24329" i="true" spc="-1094">
                  <a:solidFill>
                    <a:srgbClr val="142144">
                      <a:alpha val="14902"/>
                    </a:srgbClr>
                  </a:solidFill>
                  <a:latin typeface="ITC Benguiat Italics"/>
                  <a:ea typeface="ITC Benguiat Italics"/>
                  <a:cs typeface="ITC Benguiat Italics"/>
                  <a:sym typeface="ITC Benguiat Italics"/>
                </a:rPr>
                <a:t>EXPO</a:t>
              </a:r>
            </a:p>
          </p:txBody>
        </p:sp>
      </p:grpSp>
      <p:sp>
        <p:nvSpPr>
          <p:cNvPr name="Freeform 6" id="6"/>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8" id="8"/>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0" id="10"/>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1" id="11"/>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2" id="12"/>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3" id="13"/>
          <p:cNvSpPr txBox="true"/>
          <p:nvPr/>
        </p:nvSpPr>
        <p:spPr>
          <a:xfrm rot="0">
            <a:off x="3327384" y="3109912"/>
            <a:ext cx="11633233" cy="1781592"/>
          </a:xfrm>
          <a:prstGeom prst="rect">
            <a:avLst/>
          </a:prstGeom>
        </p:spPr>
        <p:txBody>
          <a:bodyPr anchor="t" rtlCol="false" tIns="0" lIns="0" bIns="0" rIns="0">
            <a:spAutoFit/>
          </a:bodyPr>
          <a:lstStyle/>
          <a:p>
            <a:pPr algn="ctr">
              <a:lnSpc>
                <a:spcPts val="11106"/>
              </a:lnSpc>
            </a:pPr>
            <a:r>
              <a:rPr lang="en-US" b="true" sz="12479">
                <a:solidFill>
                  <a:srgbClr val="034697"/>
                </a:solidFill>
                <a:latin typeface="Futura Bold"/>
                <a:ea typeface="Futura Bold"/>
                <a:cs typeface="Futura Bold"/>
                <a:sym typeface="Futura Bold"/>
              </a:rPr>
              <a:t>QUIZ CRAZE</a:t>
            </a:r>
          </a:p>
        </p:txBody>
      </p:sp>
      <p:sp>
        <p:nvSpPr>
          <p:cNvPr name="TextBox 14" id="14"/>
          <p:cNvSpPr txBox="true"/>
          <p:nvPr/>
        </p:nvSpPr>
        <p:spPr>
          <a:xfrm rot="0">
            <a:off x="5390362" y="6501508"/>
            <a:ext cx="6995684" cy="494030"/>
          </a:xfrm>
          <a:prstGeom prst="rect">
            <a:avLst/>
          </a:prstGeom>
        </p:spPr>
        <p:txBody>
          <a:bodyPr anchor="t" rtlCol="false" tIns="0" lIns="0" bIns="0" rIns="0">
            <a:spAutoFit/>
          </a:bodyPr>
          <a:lstStyle/>
          <a:p>
            <a:pPr algn="ctr">
              <a:lnSpc>
                <a:spcPts val="3699"/>
              </a:lnSpc>
            </a:pPr>
            <a:r>
              <a:rPr lang="en-US" sz="3699">
                <a:solidFill>
                  <a:srgbClr val="034697"/>
                </a:solidFill>
                <a:latin typeface="Varela Round"/>
                <a:ea typeface="Varela Round"/>
                <a:cs typeface="Varela Round"/>
                <a:sym typeface="Varela Round"/>
              </a:rPr>
              <a:t>Code Ace</a:t>
            </a:r>
          </a:p>
        </p:txBody>
      </p:sp>
      <p:sp>
        <p:nvSpPr>
          <p:cNvPr name="TextBox 15" id="15"/>
          <p:cNvSpPr txBox="true"/>
          <p:nvPr/>
        </p:nvSpPr>
        <p:spPr>
          <a:xfrm rot="0">
            <a:off x="13413058" y="8047442"/>
            <a:ext cx="3920583" cy="1774016"/>
          </a:xfrm>
          <a:prstGeom prst="rect">
            <a:avLst/>
          </a:prstGeom>
        </p:spPr>
        <p:txBody>
          <a:bodyPr anchor="t" rtlCol="false" tIns="0" lIns="0" bIns="0" rIns="0">
            <a:spAutoFit/>
          </a:bodyPr>
          <a:lstStyle/>
          <a:p>
            <a:pPr algn="l">
              <a:lnSpc>
                <a:spcPts val="3504"/>
              </a:lnSpc>
            </a:pPr>
            <a:r>
              <a:rPr lang="en-US" b="true" sz="3186" i="true" spc="137">
                <a:solidFill>
                  <a:srgbClr val="000000"/>
                </a:solidFill>
                <a:latin typeface="Lato Bold Italics"/>
                <a:ea typeface="Lato Bold Italics"/>
                <a:cs typeface="Lato Bold Italics"/>
                <a:sym typeface="Lato Bold Italics"/>
              </a:rPr>
              <a:t>BY,</a:t>
            </a:r>
          </a:p>
          <a:p>
            <a:pPr algn="l">
              <a:lnSpc>
                <a:spcPts val="3504"/>
              </a:lnSpc>
            </a:pPr>
            <a:r>
              <a:rPr lang="en-US" sz="3186" i="true" spc="137">
                <a:solidFill>
                  <a:srgbClr val="000000"/>
                </a:solidFill>
                <a:latin typeface="Lato Italics"/>
                <a:ea typeface="Lato Italics"/>
                <a:cs typeface="Lato Italics"/>
                <a:sym typeface="Lato Italics"/>
              </a:rPr>
              <a:t>SUDHARSAN A</a:t>
            </a:r>
          </a:p>
          <a:p>
            <a:pPr algn="l">
              <a:lnSpc>
                <a:spcPts val="3504"/>
              </a:lnSpc>
            </a:pPr>
            <a:r>
              <a:rPr lang="en-US" sz="3186" i="true" spc="137">
                <a:solidFill>
                  <a:srgbClr val="000000"/>
                </a:solidFill>
                <a:latin typeface="Lato Italics"/>
                <a:ea typeface="Lato Italics"/>
                <a:cs typeface="Lato Italics"/>
                <a:sym typeface="Lato Italics"/>
              </a:rPr>
              <a:t>Santhosh G</a:t>
            </a:r>
          </a:p>
          <a:p>
            <a:pPr algn="l">
              <a:lnSpc>
                <a:spcPts val="3504"/>
              </a:lnSpc>
            </a:pPr>
            <a:r>
              <a:rPr lang="en-US" sz="3186" i="true" spc="137">
                <a:solidFill>
                  <a:srgbClr val="000000"/>
                </a:solidFill>
                <a:latin typeface="Lato Italics"/>
                <a:ea typeface="Lato Italics"/>
                <a:cs typeface="Lato Italics"/>
                <a:sym typeface="Lato Italics"/>
              </a:rPr>
              <a:t>Arsath Noordeen A</a:t>
            </a:r>
          </a:p>
        </p:txBody>
      </p:sp>
      <p:sp>
        <p:nvSpPr>
          <p:cNvPr name="TextBox 16" id="16"/>
          <p:cNvSpPr txBox="true"/>
          <p:nvPr/>
        </p:nvSpPr>
        <p:spPr>
          <a:xfrm rot="0">
            <a:off x="4621831" y="5191125"/>
            <a:ext cx="9314458" cy="409575"/>
          </a:xfrm>
          <a:prstGeom prst="rect">
            <a:avLst/>
          </a:prstGeom>
        </p:spPr>
        <p:txBody>
          <a:bodyPr anchor="t" rtlCol="false" tIns="0" lIns="0" bIns="0" rIns="0">
            <a:spAutoFit/>
          </a:bodyPr>
          <a:lstStyle/>
          <a:p>
            <a:pPr algn="ctr">
              <a:lnSpc>
                <a:spcPts val="3000"/>
              </a:lnSpc>
            </a:pPr>
            <a:r>
              <a:rPr lang="en-US" sz="3000">
                <a:solidFill>
                  <a:srgbClr val="034697"/>
                </a:solidFill>
                <a:latin typeface="Varela Round"/>
                <a:ea typeface="Varela Round"/>
                <a:cs typeface="Varela Round"/>
                <a:sym typeface="Varela Round"/>
              </a:rPr>
              <a:t>Smart Quiz Platform for Educators &amp; Students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591184" y="1987916"/>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INTRODUCTION</a:t>
            </a:r>
          </a:p>
        </p:txBody>
      </p:sp>
      <p:sp>
        <p:nvSpPr>
          <p:cNvPr name="TextBox 11" id="11"/>
          <p:cNvSpPr txBox="true"/>
          <p:nvPr/>
        </p:nvSpPr>
        <p:spPr>
          <a:xfrm rot="0">
            <a:off x="2769394" y="3649088"/>
            <a:ext cx="12603956" cy="2785745"/>
          </a:xfrm>
          <a:prstGeom prst="rect">
            <a:avLst/>
          </a:prstGeom>
        </p:spPr>
        <p:txBody>
          <a:bodyPr anchor="t" rtlCol="false" tIns="0" lIns="0" bIns="0" rIns="0">
            <a:spAutoFit/>
          </a:bodyPr>
          <a:lstStyle/>
          <a:p>
            <a:pPr algn="ctr">
              <a:lnSpc>
                <a:spcPts val="4480"/>
              </a:lnSpc>
            </a:pPr>
            <a:r>
              <a:rPr lang="en-US" sz="3200">
                <a:solidFill>
                  <a:srgbClr val="034697"/>
                </a:solidFill>
                <a:latin typeface="Varela Round"/>
                <a:ea typeface="Varela Round"/>
                <a:cs typeface="Varela Round"/>
                <a:sym typeface="Varela Round"/>
              </a:rPr>
              <a:t>Quiz Craze is a smart quiz platform built with React and Firebase. It empowers educators to create engaging tests and allows students to take them seamlessly. Ideal for classrooms, colleges, or any learning environment looking to assess knowledge effectively.</a:t>
            </a:r>
          </a:p>
        </p:txBody>
      </p:sp>
      <p:sp>
        <p:nvSpPr>
          <p:cNvPr name="TextBox 12" id="12"/>
          <p:cNvSpPr txBox="true"/>
          <p:nvPr/>
        </p:nvSpPr>
        <p:spPr>
          <a:xfrm rot="0">
            <a:off x="2445567" y="7193597"/>
            <a:ext cx="12603956" cy="530860"/>
          </a:xfrm>
          <a:prstGeom prst="rect">
            <a:avLst/>
          </a:prstGeom>
        </p:spPr>
        <p:txBody>
          <a:bodyPr anchor="t" rtlCol="false" tIns="0" lIns="0" bIns="0" rIns="0">
            <a:spAutoFit/>
          </a:bodyPr>
          <a:lstStyle/>
          <a:p>
            <a:pPr algn="ctr">
              <a:lnSpc>
                <a:spcPts val="4340"/>
              </a:lnSpc>
            </a:pPr>
            <a:r>
              <a:rPr lang="en-US" sz="3100">
                <a:solidFill>
                  <a:srgbClr val="034697"/>
                </a:solidFill>
                <a:latin typeface="Varela Round"/>
                <a:ea typeface="Varela Round"/>
                <a:cs typeface="Varela Round"/>
                <a:sym typeface="Varela Round"/>
              </a:rPr>
              <a:t>🌐 </a:t>
            </a:r>
            <a:r>
              <a:rPr lang="en-US" sz="3100" u="sng">
                <a:solidFill>
                  <a:srgbClr val="034697"/>
                </a:solidFill>
                <a:latin typeface="Varela Round"/>
                <a:ea typeface="Varela Round"/>
                <a:cs typeface="Varela Round"/>
                <a:sym typeface="Varela Round"/>
                <a:hlinkClick r:id="rId10" tooltip="https://quiz-craze-pi.vercel.app"/>
              </a:rPr>
              <a:t>Live Link</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028700" y="2378075"/>
            <a:ext cx="14044599" cy="6546850"/>
          </a:xfrm>
          <a:prstGeom prst="rect">
            <a:avLst/>
          </a:prstGeom>
        </p:spPr>
        <p:txBody>
          <a:bodyPr anchor="t" rtlCol="false" tIns="0" lIns="0" bIns="0" rIns="0">
            <a:spAutoFit/>
          </a:bodyPr>
          <a:lstStyle/>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Teachers spend too much time manually creating and managing quizzes</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Students need quick feedback to improve learning</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Traditional tests lack instant result tracking</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Managing q</a:t>
            </a:r>
            <a:r>
              <a:rPr lang="en-US" sz="3399">
                <a:solidFill>
                  <a:srgbClr val="034697"/>
                </a:solidFill>
                <a:latin typeface="Varela Round"/>
                <a:ea typeface="Varela Round"/>
                <a:cs typeface="Varela Round"/>
                <a:sym typeface="Varela Round"/>
              </a:rPr>
              <a:t>uiz history and scores is difficult without a system</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Need for interactive, secure, and digital assessment tools</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Existing </a:t>
            </a:r>
            <a:r>
              <a:rPr lang="en-US" sz="3399">
                <a:solidFill>
                  <a:srgbClr val="034697"/>
                </a:solidFill>
                <a:latin typeface="Varela Round"/>
                <a:ea typeface="Varela Round"/>
                <a:cs typeface="Varela Round"/>
                <a:sym typeface="Varela Round"/>
              </a:rPr>
              <a:t>platforms are either too complex or limited in functionality</a:t>
            </a:r>
          </a:p>
          <a:p>
            <a:pPr algn="l">
              <a:lnSpc>
                <a:spcPts val="5779"/>
              </a:lnSpc>
            </a:pPr>
          </a:p>
        </p:txBody>
      </p:sp>
      <p:sp>
        <p:nvSpPr>
          <p:cNvPr name="Freeform 11" id="11"/>
          <p:cNvSpPr/>
          <p:nvPr/>
        </p:nvSpPr>
        <p:spPr>
          <a:xfrm flipH="false" flipV="false" rot="0">
            <a:off x="14722955" y="5143500"/>
            <a:ext cx="3186739" cy="3186739"/>
          </a:xfrm>
          <a:custGeom>
            <a:avLst/>
            <a:gdLst/>
            <a:ahLst/>
            <a:cxnLst/>
            <a:rect r="r" b="b" t="t" l="l"/>
            <a:pathLst>
              <a:path h="3186739" w="3186739">
                <a:moveTo>
                  <a:pt x="0" y="0"/>
                </a:moveTo>
                <a:lnTo>
                  <a:pt x="3186740" y="0"/>
                </a:lnTo>
                <a:lnTo>
                  <a:pt x="3186740" y="3186739"/>
                </a:lnTo>
                <a:lnTo>
                  <a:pt x="0" y="3186739"/>
                </a:lnTo>
                <a:lnTo>
                  <a:pt x="0" y="0"/>
                </a:lnTo>
                <a:close/>
              </a:path>
            </a:pathLst>
          </a:custGeom>
          <a:blipFill>
            <a:blip r:embed="rId10"/>
            <a:stretch>
              <a:fillRect l="0" t="0" r="0" b="0"/>
            </a:stretch>
          </a:blipFill>
        </p:spPr>
      </p:sp>
      <p:sp>
        <p:nvSpPr>
          <p:cNvPr name="TextBox 12" id="12"/>
          <p:cNvSpPr txBox="true"/>
          <p:nvPr/>
        </p:nvSpPr>
        <p:spPr>
          <a:xfrm rot="0">
            <a:off x="-926064" y="934045"/>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PROBLEM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883444" y="2677137"/>
            <a:ext cx="10968069" cy="5476875"/>
          </a:xfrm>
          <a:prstGeom prst="rect">
            <a:avLst/>
          </a:prstGeom>
        </p:spPr>
        <p:txBody>
          <a:bodyPr anchor="t" rtlCol="false" tIns="0" lIns="0" bIns="0" rIns="0">
            <a:spAutoFit/>
          </a:bodyPr>
          <a:lstStyle/>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Frontend: React, TailwindCSS, React Router</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Backend / Database: Firebase Auth, Firestore</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State Management: Zustand for global state persistence</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Form Validation: React Hook Form + Zod</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Icons &amp; UI Components: Lucide Icons</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Built with modern responsive design principles</a:t>
            </a:r>
          </a:p>
          <a:p>
            <a:pPr algn="l">
              <a:lnSpc>
                <a:spcPts val="5779"/>
              </a:lnSpc>
            </a:pPr>
          </a:p>
        </p:txBody>
      </p:sp>
      <p:sp>
        <p:nvSpPr>
          <p:cNvPr name="Freeform 11" id="11"/>
          <p:cNvSpPr/>
          <p:nvPr/>
        </p:nvSpPr>
        <p:spPr>
          <a:xfrm flipH="false" flipV="false" rot="0">
            <a:off x="11170204" y="1776655"/>
            <a:ext cx="2461809" cy="2191010"/>
          </a:xfrm>
          <a:custGeom>
            <a:avLst/>
            <a:gdLst/>
            <a:ahLst/>
            <a:cxnLst/>
            <a:rect r="r" b="b" t="t" l="l"/>
            <a:pathLst>
              <a:path h="2191010" w="2461809">
                <a:moveTo>
                  <a:pt x="0" y="0"/>
                </a:moveTo>
                <a:lnTo>
                  <a:pt x="2461809" y="0"/>
                </a:lnTo>
                <a:lnTo>
                  <a:pt x="2461809" y="2191010"/>
                </a:lnTo>
                <a:lnTo>
                  <a:pt x="0" y="2191010"/>
                </a:lnTo>
                <a:lnTo>
                  <a:pt x="0" y="0"/>
                </a:lnTo>
                <a:close/>
              </a:path>
            </a:pathLst>
          </a:custGeom>
          <a:blipFill>
            <a:blip r:embed="rId10"/>
            <a:stretch>
              <a:fillRect l="0" t="0" r="0" b="0"/>
            </a:stretch>
          </a:blipFill>
        </p:spPr>
      </p:sp>
      <p:sp>
        <p:nvSpPr>
          <p:cNvPr name="Freeform 12" id="12"/>
          <p:cNvSpPr/>
          <p:nvPr/>
        </p:nvSpPr>
        <p:spPr>
          <a:xfrm flipH="false" flipV="false" rot="0">
            <a:off x="13993698" y="1776655"/>
            <a:ext cx="3607302" cy="2105762"/>
          </a:xfrm>
          <a:custGeom>
            <a:avLst/>
            <a:gdLst/>
            <a:ahLst/>
            <a:cxnLst/>
            <a:rect r="r" b="b" t="t" l="l"/>
            <a:pathLst>
              <a:path h="2105762" w="3607302">
                <a:moveTo>
                  <a:pt x="0" y="0"/>
                </a:moveTo>
                <a:lnTo>
                  <a:pt x="3607302" y="0"/>
                </a:lnTo>
                <a:lnTo>
                  <a:pt x="3607302" y="2105763"/>
                </a:lnTo>
                <a:lnTo>
                  <a:pt x="0" y="2105763"/>
                </a:lnTo>
                <a:lnTo>
                  <a:pt x="0" y="0"/>
                </a:lnTo>
                <a:close/>
              </a:path>
            </a:pathLst>
          </a:custGeom>
          <a:blipFill>
            <a:blip r:embed="rId11"/>
            <a:stretch>
              <a:fillRect l="0" t="0" r="0" b="0"/>
            </a:stretch>
          </a:blipFill>
        </p:spPr>
      </p:sp>
      <p:sp>
        <p:nvSpPr>
          <p:cNvPr name="Freeform 13" id="13"/>
          <p:cNvSpPr/>
          <p:nvPr/>
        </p:nvSpPr>
        <p:spPr>
          <a:xfrm flipH="false" flipV="false" rot="0">
            <a:off x="14437075" y="5143500"/>
            <a:ext cx="2720548" cy="2720548"/>
          </a:xfrm>
          <a:custGeom>
            <a:avLst/>
            <a:gdLst/>
            <a:ahLst/>
            <a:cxnLst/>
            <a:rect r="r" b="b" t="t" l="l"/>
            <a:pathLst>
              <a:path h="2720548" w="2720548">
                <a:moveTo>
                  <a:pt x="0" y="0"/>
                </a:moveTo>
                <a:lnTo>
                  <a:pt x="2720548" y="0"/>
                </a:lnTo>
                <a:lnTo>
                  <a:pt x="2720548" y="2720548"/>
                </a:lnTo>
                <a:lnTo>
                  <a:pt x="0" y="2720548"/>
                </a:lnTo>
                <a:lnTo>
                  <a:pt x="0" y="0"/>
                </a:lnTo>
                <a:close/>
              </a:path>
            </a:pathLst>
          </a:custGeom>
          <a:blipFill>
            <a:blip r:embed="rId12"/>
            <a:stretch>
              <a:fillRect l="0" t="0" r="0" b="0"/>
            </a:stretch>
          </a:blipFill>
        </p:spPr>
      </p:sp>
      <p:sp>
        <p:nvSpPr>
          <p:cNvPr name="Freeform 14" id="14"/>
          <p:cNvSpPr/>
          <p:nvPr/>
        </p:nvSpPr>
        <p:spPr>
          <a:xfrm flipH="false" flipV="false" rot="0">
            <a:off x="11204462" y="5605661"/>
            <a:ext cx="2713036" cy="1658344"/>
          </a:xfrm>
          <a:custGeom>
            <a:avLst/>
            <a:gdLst/>
            <a:ahLst/>
            <a:cxnLst/>
            <a:rect r="r" b="b" t="t" l="l"/>
            <a:pathLst>
              <a:path h="1658344" w="2713036">
                <a:moveTo>
                  <a:pt x="0" y="0"/>
                </a:moveTo>
                <a:lnTo>
                  <a:pt x="2713036" y="0"/>
                </a:lnTo>
                <a:lnTo>
                  <a:pt x="2713036" y="1658343"/>
                </a:lnTo>
                <a:lnTo>
                  <a:pt x="0" y="1658343"/>
                </a:lnTo>
                <a:lnTo>
                  <a:pt x="0" y="0"/>
                </a:lnTo>
                <a:close/>
              </a:path>
            </a:pathLst>
          </a:custGeom>
          <a:blipFill>
            <a:blip r:embed="rId13"/>
            <a:stretch>
              <a:fillRect l="0" t="0" r="0" b="0"/>
            </a:stretch>
          </a:blipFill>
        </p:spPr>
      </p:sp>
      <p:sp>
        <p:nvSpPr>
          <p:cNvPr name="TextBox 15" id="15"/>
          <p:cNvSpPr txBox="true"/>
          <p:nvPr/>
        </p:nvSpPr>
        <p:spPr>
          <a:xfrm rot="0">
            <a:off x="-237962" y="1105386"/>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TECH STACK</a:t>
            </a:r>
          </a:p>
        </p:txBody>
      </p:sp>
      <p:sp>
        <p:nvSpPr>
          <p:cNvPr name="TextBox 16" id="16"/>
          <p:cNvSpPr txBox="true"/>
          <p:nvPr/>
        </p:nvSpPr>
        <p:spPr>
          <a:xfrm rot="0">
            <a:off x="13993698" y="4206268"/>
            <a:ext cx="3185180" cy="790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React State Mangement</a:t>
            </a:r>
          </a:p>
        </p:txBody>
      </p:sp>
      <p:sp>
        <p:nvSpPr>
          <p:cNvPr name="TextBox 17" id="17"/>
          <p:cNvSpPr txBox="true"/>
          <p:nvPr/>
        </p:nvSpPr>
        <p:spPr>
          <a:xfrm rot="0">
            <a:off x="10732318" y="4396768"/>
            <a:ext cx="3185180"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React</a:t>
            </a:r>
          </a:p>
        </p:txBody>
      </p:sp>
      <p:sp>
        <p:nvSpPr>
          <p:cNvPr name="TextBox 18" id="18"/>
          <p:cNvSpPr txBox="true"/>
          <p:nvPr/>
        </p:nvSpPr>
        <p:spPr>
          <a:xfrm rot="0">
            <a:off x="14204759" y="8279696"/>
            <a:ext cx="3185180"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Firebase</a:t>
            </a:r>
          </a:p>
        </p:txBody>
      </p:sp>
      <p:sp>
        <p:nvSpPr>
          <p:cNvPr name="TextBox 19" id="19"/>
          <p:cNvSpPr txBox="true"/>
          <p:nvPr/>
        </p:nvSpPr>
        <p:spPr>
          <a:xfrm rot="0">
            <a:off x="10968390" y="7778354"/>
            <a:ext cx="3185180"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Tailwindcss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578103" y="1776655"/>
            <a:ext cx="7072789" cy="3191596"/>
          </a:xfrm>
          <a:custGeom>
            <a:avLst/>
            <a:gdLst/>
            <a:ahLst/>
            <a:cxnLst/>
            <a:rect r="r" b="b" t="t" l="l"/>
            <a:pathLst>
              <a:path h="3191596" w="7072789">
                <a:moveTo>
                  <a:pt x="0" y="0"/>
                </a:moveTo>
                <a:lnTo>
                  <a:pt x="7072789" y="0"/>
                </a:lnTo>
                <a:lnTo>
                  <a:pt x="7072789" y="3191596"/>
                </a:lnTo>
                <a:lnTo>
                  <a:pt x="0" y="3191596"/>
                </a:lnTo>
                <a:lnTo>
                  <a:pt x="0" y="0"/>
                </a:lnTo>
                <a:close/>
              </a:path>
            </a:pathLst>
          </a:custGeom>
          <a:blipFill>
            <a:blip r:embed="rId10"/>
            <a:stretch>
              <a:fillRect l="0" t="0" r="0" b="0"/>
            </a:stretch>
          </a:blipFill>
        </p:spPr>
      </p:sp>
      <p:sp>
        <p:nvSpPr>
          <p:cNvPr name="Freeform 11" id="11"/>
          <p:cNvSpPr/>
          <p:nvPr/>
        </p:nvSpPr>
        <p:spPr>
          <a:xfrm flipH="false" flipV="false" rot="0">
            <a:off x="10578103" y="5475029"/>
            <a:ext cx="7072789" cy="3173914"/>
          </a:xfrm>
          <a:custGeom>
            <a:avLst/>
            <a:gdLst/>
            <a:ahLst/>
            <a:cxnLst/>
            <a:rect r="r" b="b" t="t" l="l"/>
            <a:pathLst>
              <a:path h="3173914" w="7072789">
                <a:moveTo>
                  <a:pt x="0" y="0"/>
                </a:moveTo>
                <a:lnTo>
                  <a:pt x="7072789" y="0"/>
                </a:lnTo>
                <a:lnTo>
                  <a:pt x="7072789" y="3173914"/>
                </a:lnTo>
                <a:lnTo>
                  <a:pt x="0" y="3173914"/>
                </a:lnTo>
                <a:lnTo>
                  <a:pt x="0" y="0"/>
                </a:lnTo>
                <a:close/>
              </a:path>
            </a:pathLst>
          </a:custGeom>
          <a:blipFill>
            <a:blip r:embed="rId11"/>
            <a:stretch>
              <a:fillRect l="0" t="0" r="0" b="0"/>
            </a:stretch>
          </a:blipFill>
        </p:spPr>
      </p:sp>
      <p:sp>
        <p:nvSpPr>
          <p:cNvPr name="TextBox 12" id="12"/>
          <p:cNvSpPr txBox="true"/>
          <p:nvPr/>
        </p:nvSpPr>
        <p:spPr>
          <a:xfrm rot="0">
            <a:off x="691049" y="2120641"/>
            <a:ext cx="9730180" cy="6546850"/>
          </a:xfrm>
          <a:prstGeom prst="rect">
            <a:avLst/>
          </a:prstGeom>
        </p:spPr>
        <p:txBody>
          <a:bodyPr anchor="t" rtlCol="false" tIns="0" lIns="0" bIns="0" rIns="0">
            <a:spAutoFit/>
          </a:bodyPr>
          <a:lstStyle/>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Create and edit quizzes with multiple questions</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Save quizzes for later use</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Monitor total users, quizzes, and activity</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View and manage student results</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Clear data with one click when needed</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Role-based access ensures only admins can manage quizzes</a:t>
            </a:r>
          </a:p>
          <a:p>
            <a:pPr algn="l">
              <a:lnSpc>
                <a:spcPts val="5779"/>
              </a:lnSpc>
            </a:pPr>
          </a:p>
        </p:txBody>
      </p:sp>
      <p:sp>
        <p:nvSpPr>
          <p:cNvPr name="TextBox 13" id="13"/>
          <p:cNvSpPr txBox="true"/>
          <p:nvPr/>
        </p:nvSpPr>
        <p:spPr>
          <a:xfrm rot="0">
            <a:off x="0" y="1071451"/>
            <a:ext cx="8960375" cy="925119"/>
          </a:xfrm>
          <a:prstGeom prst="rect">
            <a:avLst/>
          </a:prstGeom>
        </p:spPr>
        <p:txBody>
          <a:bodyPr anchor="t" rtlCol="false" tIns="0" lIns="0" bIns="0" rIns="0">
            <a:spAutoFit/>
          </a:bodyPr>
          <a:lstStyle/>
          <a:p>
            <a:pPr algn="ctr">
              <a:lnSpc>
                <a:spcPts val="5840"/>
              </a:lnSpc>
            </a:pPr>
            <a:r>
              <a:rPr lang="en-US" b="true" sz="6562">
                <a:solidFill>
                  <a:srgbClr val="034697"/>
                </a:solidFill>
                <a:latin typeface="Futura Bold"/>
                <a:ea typeface="Futura Bold"/>
                <a:cs typeface="Futura Bold"/>
                <a:sym typeface="Futura Bold"/>
              </a:rPr>
              <a:t>ADMIN FEATURES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10" id="10"/>
          <p:cNvSpPr/>
          <p:nvPr/>
        </p:nvSpPr>
        <p:spPr>
          <a:xfrm flipH="false" flipV="false" rot="0">
            <a:off x="10961470" y="1523282"/>
            <a:ext cx="7000014" cy="3325007"/>
          </a:xfrm>
          <a:custGeom>
            <a:avLst/>
            <a:gdLst/>
            <a:ahLst/>
            <a:cxnLst/>
            <a:rect r="r" b="b" t="t" l="l"/>
            <a:pathLst>
              <a:path h="3325007" w="7000014">
                <a:moveTo>
                  <a:pt x="0" y="0"/>
                </a:moveTo>
                <a:lnTo>
                  <a:pt x="7000014" y="0"/>
                </a:lnTo>
                <a:lnTo>
                  <a:pt x="7000014" y="3325007"/>
                </a:lnTo>
                <a:lnTo>
                  <a:pt x="0" y="3325007"/>
                </a:lnTo>
                <a:lnTo>
                  <a:pt x="0" y="0"/>
                </a:lnTo>
                <a:close/>
              </a:path>
            </a:pathLst>
          </a:custGeom>
          <a:blipFill>
            <a:blip r:embed="rId10"/>
            <a:stretch>
              <a:fillRect l="0" t="0" r="0" b="0"/>
            </a:stretch>
          </a:blipFill>
        </p:spPr>
      </p:sp>
      <p:sp>
        <p:nvSpPr>
          <p:cNvPr name="Freeform 11" id="11"/>
          <p:cNvSpPr/>
          <p:nvPr/>
        </p:nvSpPr>
        <p:spPr>
          <a:xfrm flipH="false" flipV="false" rot="0">
            <a:off x="10961470" y="5342871"/>
            <a:ext cx="7135074" cy="3307507"/>
          </a:xfrm>
          <a:custGeom>
            <a:avLst/>
            <a:gdLst/>
            <a:ahLst/>
            <a:cxnLst/>
            <a:rect r="r" b="b" t="t" l="l"/>
            <a:pathLst>
              <a:path h="3307507" w="7135074">
                <a:moveTo>
                  <a:pt x="0" y="0"/>
                </a:moveTo>
                <a:lnTo>
                  <a:pt x="7135075" y="0"/>
                </a:lnTo>
                <a:lnTo>
                  <a:pt x="7135075" y="3307507"/>
                </a:lnTo>
                <a:lnTo>
                  <a:pt x="0" y="3307507"/>
                </a:lnTo>
                <a:lnTo>
                  <a:pt x="0" y="0"/>
                </a:lnTo>
                <a:close/>
              </a:path>
            </a:pathLst>
          </a:custGeom>
          <a:blipFill>
            <a:blip r:embed="rId11"/>
            <a:stretch>
              <a:fillRect l="0" t="-964" r="0" b="-964"/>
            </a:stretch>
          </a:blipFill>
        </p:spPr>
      </p:sp>
      <p:sp>
        <p:nvSpPr>
          <p:cNvPr name="TextBox 12" id="12"/>
          <p:cNvSpPr txBox="true"/>
          <p:nvPr/>
        </p:nvSpPr>
        <p:spPr>
          <a:xfrm rot="0">
            <a:off x="420929" y="2116137"/>
            <a:ext cx="10315441" cy="7280275"/>
          </a:xfrm>
          <a:prstGeom prst="rect">
            <a:avLst/>
          </a:prstGeom>
        </p:spPr>
        <p:txBody>
          <a:bodyPr anchor="t" rtlCol="false" tIns="0" lIns="0" bIns="0" rIns="0">
            <a:spAutoFit/>
          </a:bodyPr>
          <a:lstStyle/>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Sign up with Register Number, Email &amp; Password</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Take timed quizzes with real-time answer saving</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Get instant results with correct answers highlighted</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Acc</a:t>
            </a:r>
            <a:r>
              <a:rPr lang="en-US" sz="3399">
                <a:solidFill>
                  <a:srgbClr val="034697"/>
                </a:solidFill>
                <a:latin typeface="Varela Round"/>
                <a:ea typeface="Varela Round"/>
                <a:cs typeface="Varela Round"/>
                <a:sym typeface="Varela Round"/>
              </a:rPr>
              <a:t>ess previous quiz history (recent activity)</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Interactive UI makes quizzes fun and engaging</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View performance trends over time</a:t>
            </a:r>
          </a:p>
          <a:p>
            <a:pPr algn="l">
              <a:lnSpc>
                <a:spcPts val="5779"/>
              </a:lnSpc>
            </a:pPr>
          </a:p>
        </p:txBody>
      </p:sp>
      <p:sp>
        <p:nvSpPr>
          <p:cNvPr name="TextBox 13" id="13"/>
          <p:cNvSpPr txBox="true"/>
          <p:nvPr/>
        </p:nvSpPr>
        <p:spPr>
          <a:xfrm rot="0">
            <a:off x="0" y="1071451"/>
            <a:ext cx="8960375" cy="925119"/>
          </a:xfrm>
          <a:prstGeom prst="rect">
            <a:avLst/>
          </a:prstGeom>
        </p:spPr>
        <p:txBody>
          <a:bodyPr anchor="t" rtlCol="false" tIns="0" lIns="0" bIns="0" rIns="0">
            <a:spAutoFit/>
          </a:bodyPr>
          <a:lstStyle/>
          <a:p>
            <a:pPr algn="ctr">
              <a:lnSpc>
                <a:spcPts val="5840"/>
              </a:lnSpc>
            </a:pPr>
            <a:r>
              <a:rPr lang="en-US" b="true" sz="6562">
                <a:solidFill>
                  <a:srgbClr val="034697"/>
                </a:solidFill>
                <a:latin typeface="Futura Bold"/>
                <a:ea typeface="Futura Bold"/>
                <a:cs typeface="Futura Bold"/>
                <a:sym typeface="Futura Bold"/>
              </a:rPr>
              <a:t>STUDENT FEATURES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172889" y="1999809"/>
            <a:ext cx="12273651" cy="4838700"/>
          </a:xfrm>
          <a:prstGeom prst="rect">
            <a:avLst/>
          </a:prstGeom>
        </p:spPr>
        <p:txBody>
          <a:bodyPr anchor="t" rtlCol="false" tIns="0" lIns="0" bIns="0" rIns="0">
            <a:spAutoFit/>
          </a:bodyPr>
          <a:lstStyle/>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Admin can generate quizzes quickly</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Questions support multiple-choice options</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Correct answers are highlighted automatically</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Quizzes can be saved for future reuse</a:t>
            </a:r>
          </a:p>
          <a:p>
            <a:pPr algn="l" marL="734059" indent="-367030" lvl="1">
              <a:lnSpc>
                <a:spcPts val="5779"/>
              </a:lnSpc>
              <a:buFont typeface="Arial"/>
              <a:buChar char="•"/>
            </a:pPr>
            <a:r>
              <a:rPr lang="en-US" sz="3399">
                <a:solidFill>
                  <a:srgbClr val="034697"/>
                </a:solidFill>
                <a:latin typeface="Varela Round"/>
                <a:ea typeface="Varela Round"/>
                <a:cs typeface="Varela Round"/>
                <a:sym typeface="Varela Round"/>
              </a:rPr>
              <a:t>Students can attempt quizzes anytime</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System keeps track of attempts and scores</a:t>
            </a:r>
          </a:p>
          <a:p>
            <a:pPr algn="l">
              <a:lnSpc>
                <a:spcPts val="5779"/>
              </a:lnSpc>
            </a:pPr>
          </a:p>
        </p:txBody>
      </p:sp>
      <p:sp>
        <p:nvSpPr>
          <p:cNvPr name="Freeform 11" id="11"/>
          <p:cNvSpPr/>
          <p:nvPr/>
        </p:nvSpPr>
        <p:spPr>
          <a:xfrm flipH="false" flipV="false" rot="0">
            <a:off x="3228512" y="6644383"/>
            <a:ext cx="2086416" cy="2086416"/>
          </a:xfrm>
          <a:custGeom>
            <a:avLst/>
            <a:gdLst/>
            <a:ahLst/>
            <a:cxnLst/>
            <a:rect r="r" b="b" t="t" l="l"/>
            <a:pathLst>
              <a:path h="2086416" w="2086416">
                <a:moveTo>
                  <a:pt x="0" y="0"/>
                </a:moveTo>
                <a:lnTo>
                  <a:pt x="2086416" y="0"/>
                </a:lnTo>
                <a:lnTo>
                  <a:pt x="2086416" y="2086416"/>
                </a:lnTo>
                <a:lnTo>
                  <a:pt x="0" y="2086416"/>
                </a:lnTo>
                <a:lnTo>
                  <a:pt x="0" y="0"/>
                </a:lnTo>
                <a:close/>
              </a:path>
            </a:pathLst>
          </a:custGeom>
          <a:blipFill>
            <a:blip r:embed="rId10"/>
            <a:stretch>
              <a:fillRect l="0" t="0" r="0" b="0"/>
            </a:stretch>
          </a:blipFill>
        </p:spPr>
      </p:sp>
      <p:sp>
        <p:nvSpPr>
          <p:cNvPr name="AutoShape 12" id="12"/>
          <p:cNvSpPr/>
          <p:nvPr/>
        </p:nvSpPr>
        <p:spPr>
          <a:xfrm>
            <a:off x="6092448" y="7706641"/>
            <a:ext cx="1157361" cy="0"/>
          </a:xfrm>
          <a:prstGeom prst="line">
            <a:avLst/>
          </a:prstGeom>
          <a:ln cap="flat" w="38100">
            <a:solidFill>
              <a:srgbClr val="000000"/>
            </a:solidFill>
            <a:prstDash val="solid"/>
            <a:headEnd type="none" len="sm" w="sm"/>
            <a:tailEnd type="triangle" len="med" w="lg"/>
          </a:ln>
        </p:spPr>
      </p:sp>
      <p:sp>
        <p:nvSpPr>
          <p:cNvPr name="Freeform 13" id="13"/>
          <p:cNvSpPr/>
          <p:nvPr/>
        </p:nvSpPr>
        <p:spPr>
          <a:xfrm flipH="false" flipV="false" rot="0">
            <a:off x="7484583" y="6853778"/>
            <a:ext cx="1877020" cy="1877020"/>
          </a:xfrm>
          <a:custGeom>
            <a:avLst/>
            <a:gdLst/>
            <a:ahLst/>
            <a:cxnLst/>
            <a:rect r="r" b="b" t="t" l="l"/>
            <a:pathLst>
              <a:path h="1877020" w="1877020">
                <a:moveTo>
                  <a:pt x="0" y="0"/>
                </a:moveTo>
                <a:lnTo>
                  <a:pt x="1877021" y="0"/>
                </a:lnTo>
                <a:lnTo>
                  <a:pt x="1877021" y="1877021"/>
                </a:lnTo>
                <a:lnTo>
                  <a:pt x="0" y="1877021"/>
                </a:lnTo>
                <a:lnTo>
                  <a:pt x="0" y="0"/>
                </a:lnTo>
                <a:close/>
              </a:path>
            </a:pathLst>
          </a:custGeom>
          <a:blipFill>
            <a:blip r:embed="rId11"/>
            <a:stretch>
              <a:fillRect l="0" t="0" r="0" b="0"/>
            </a:stretch>
          </a:blipFill>
        </p:spPr>
      </p:sp>
      <p:sp>
        <p:nvSpPr>
          <p:cNvPr name="Freeform 14" id="14"/>
          <p:cNvSpPr/>
          <p:nvPr/>
        </p:nvSpPr>
        <p:spPr>
          <a:xfrm flipH="false" flipV="false" rot="0">
            <a:off x="11715313" y="6434833"/>
            <a:ext cx="2591241" cy="2591241"/>
          </a:xfrm>
          <a:custGeom>
            <a:avLst/>
            <a:gdLst/>
            <a:ahLst/>
            <a:cxnLst/>
            <a:rect r="r" b="b" t="t" l="l"/>
            <a:pathLst>
              <a:path h="2591241" w="2591241">
                <a:moveTo>
                  <a:pt x="0" y="0"/>
                </a:moveTo>
                <a:lnTo>
                  <a:pt x="2591241" y="0"/>
                </a:lnTo>
                <a:lnTo>
                  <a:pt x="2591241" y="2591241"/>
                </a:lnTo>
                <a:lnTo>
                  <a:pt x="0" y="2591241"/>
                </a:lnTo>
                <a:lnTo>
                  <a:pt x="0" y="0"/>
                </a:lnTo>
                <a:close/>
              </a:path>
            </a:pathLst>
          </a:custGeom>
          <a:blipFill>
            <a:blip r:embed="rId12"/>
            <a:stretch>
              <a:fillRect l="0" t="0" r="0" b="0"/>
            </a:stretch>
          </a:blipFill>
        </p:spPr>
      </p:sp>
      <p:sp>
        <p:nvSpPr>
          <p:cNvPr name="TextBox 15" id="15"/>
          <p:cNvSpPr txBox="true"/>
          <p:nvPr/>
        </p:nvSpPr>
        <p:spPr>
          <a:xfrm rot="0">
            <a:off x="823098" y="1044042"/>
            <a:ext cx="14550252" cy="732614"/>
          </a:xfrm>
          <a:prstGeom prst="rect">
            <a:avLst/>
          </a:prstGeom>
        </p:spPr>
        <p:txBody>
          <a:bodyPr anchor="t" rtlCol="false" tIns="0" lIns="0" bIns="0" rIns="0">
            <a:spAutoFit/>
          </a:bodyPr>
          <a:lstStyle/>
          <a:p>
            <a:pPr algn="l">
              <a:lnSpc>
                <a:spcPts val="4503"/>
              </a:lnSpc>
            </a:pPr>
            <a:r>
              <a:rPr lang="en-US" sz="5060" b="true">
                <a:solidFill>
                  <a:srgbClr val="034697"/>
                </a:solidFill>
                <a:latin typeface="Futura Bold"/>
                <a:ea typeface="Futura Bold"/>
                <a:cs typeface="Futura Bold"/>
                <a:sym typeface="Futura Bold"/>
              </a:rPr>
              <a:t>📝 QUIZ CREATION &amp; MANAGEMENT</a:t>
            </a:r>
          </a:p>
        </p:txBody>
      </p:sp>
      <p:sp>
        <p:nvSpPr>
          <p:cNvPr name="TextBox 16" id="16"/>
          <p:cNvSpPr txBox="true"/>
          <p:nvPr/>
        </p:nvSpPr>
        <p:spPr>
          <a:xfrm rot="0">
            <a:off x="2445567" y="8817472"/>
            <a:ext cx="3652306"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Admin Create Quiz</a:t>
            </a:r>
          </a:p>
        </p:txBody>
      </p:sp>
      <p:sp>
        <p:nvSpPr>
          <p:cNvPr name="TextBox 17" id="17"/>
          <p:cNvSpPr txBox="true"/>
          <p:nvPr/>
        </p:nvSpPr>
        <p:spPr>
          <a:xfrm rot="0">
            <a:off x="6596941" y="8845099"/>
            <a:ext cx="3652306"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Save</a:t>
            </a:r>
          </a:p>
        </p:txBody>
      </p:sp>
      <p:sp>
        <p:nvSpPr>
          <p:cNvPr name="AutoShape 18" id="18"/>
          <p:cNvSpPr/>
          <p:nvPr/>
        </p:nvSpPr>
        <p:spPr>
          <a:xfrm>
            <a:off x="9757852" y="7811338"/>
            <a:ext cx="1157361" cy="0"/>
          </a:xfrm>
          <a:prstGeom prst="line">
            <a:avLst/>
          </a:prstGeom>
          <a:ln cap="flat" w="38100">
            <a:solidFill>
              <a:srgbClr val="000000"/>
            </a:solidFill>
            <a:prstDash val="solid"/>
            <a:headEnd type="none" len="sm" w="sm"/>
            <a:tailEnd type="triangle" len="med" w="lg"/>
          </a:ln>
        </p:spPr>
      </p:sp>
      <p:sp>
        <p:nvSpPr>
          <p:cNvPr name="TextBox 19" id="19"/>
          <p:cNvSpPr txBox="true"/>
          <p:nvPr/>
        </p:nvSpPr>
        <p:spPr>
          <a:xfrm rot="0">
            <a:off x="11184781" y="9274673"/>
            <a:ext cx="3652306" cy="409575"/>
          </a:xfrm>
          <a:prstGeom prst="rect">
            <a:avLst/>
          </a:prstGeom>
        </p:spPr>
        <p:txBody>
          <a:bodyPr anchor="t" rtlCol="false" tIns="0" lIns="0" bIns="0" rIns="0">
            <a:spAutoFit/>
          </a:bodyPr>
          <a:lstStyle/>
          <a:p>
            <a:pPr algn="ctr">
              <a:lnSpc>
                <a:spcPts val="3000"/>
              </a:lnSpc>
              <a:spcBef>
                <a:spcPct val="0"/>
              </a:spcBef>
            </a:pPr>
            <a:r>
              <a:rPr lang="en-US" sz="3000">
                <a:solidFill>
                  <a:srgbClr val="034697"/>
                </a:solidFill>
                <a:latin typeface="Varela Round"/>
                <a:ea typeface="Varela Round"/>
                <a:cs typeface="Varela Round"/>
                <a:sym typeface="Varela Round"/>
              </a:rPr>
              <a:t>Students Attend</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1346248" y="2331531"/>
            <a:ext cx="10765478" cy="6162675"/>
          </a:xfrm>
          <a:prstGeom prst="rect">
            <a:avLst/>
          </a:prstGeom>
        </p:spPr>
        <p:txBody>
          <a:bodyPr anchor="t" rtlCol="false" tIns="0" lIns="0" bIns="0" rIns="0">
            <a:spAutoFit/>
          </a:bodyPr>
          <a:lstStyle/>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AI-powered quiz suggestions &amp; auto-generation</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Analytics dashboard for Admin to track student performance</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Support for more question types (e.g., fill-in-the-blank, matching)</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Mobile app version for easy quiz access on smartphones</a:t>
            </a:r>
          </a:p>
          <a:p>
            <a:pPr algn="l" marL="690881" indent="-345440" lvl="1">
              <a:lnSpc>
                <a:spcPts val="5440"/>
              </a:lnSpc>
              <a:buFont typeface="Arial"/>
              <a:buChar char="•"/>
            </a:pPr>
            <a:r>
              <a:rPr lang="en-US" sz="3200">
                <a:solidFill>
                  <a:srgbClr val="034697"/>
                </a:solidFill>
                <a:latin typeface="Varela Round"/>
                <a:ea typeface="Varela Round"/>
                <a:cs typeface="Varela Round"/>
                <a:sym typeface="Varela Round"/>
              </a:rPr>
              <a:t>Enhanced security &amp; role-based permissions</a:t>
            </a:r>
          </a:p>
          <a:p>
            <a:pPr algn="l">
              <a:lnSpc>
                <a:spcPts val="5779"/>
              </a:lnSpc>
            </a:pPr>
          </a:p>
        </p:txBody>
      </p:sp>
      <p:sp>
        <p:nvSpPr>
          <p:cNvPr name="Freeform 11" id="11"/>
          <p:cNvSpPr/>
          <p:nvPr/>
        </p:nvSpPr>
        <p:spPr>
          <a:xfrm flipH="false" flipV="false" rot="0">
            <a:off x="11695625" y="3547921"/>
            <a:ext cx="5938149" cy="3882065"/>
          </a:xfrm>
          <a:custGeom>
            <a:avLst/>
            <a:gdLst/>
            <a:ahLst/>
            <a:cxnLst/>
            <a:rect r="r" b="b" t="t" l="l"/>
            <a:pathLst>
              <a:path h="3882065" w="5938149">
                <a:moveTo>
                  <a:pt x="0" y="0"/>
                </a:moveTo>
                <a:lnTo>
                  <a:pt x="5938149" y="0"/>
                </a:lnTo>
                <a:lnTo>
                  <a:pt x="5938149" y="3882065"/>
                </a:lnTo>
                <a:lnTo>
                  <a:pt x="0" y="3882065"/>
                </a:lnTo>
                <a:lnTo>
                  <a:pt x="0" y="0"/>
                </a:lnTo>
                <a:close/>
              </a:path>
            </a:pathLst>
          </a:custGeom>
          <a:blipFill>
            <a:blip r:embed="rId10"/>
            <a:stretch>
              <a:fillRect l="0" t="0" r="0" b="0"/>
            </a:stretch>
          </a:blipFill>
        </p:spPr>
      </p:sp>
      <p:sp>
        <p:nvSpPr>
          <p:cNvPr name="TextBox 12" id="12"/>
          <p:cNvSpPr txBox="true"/>
          <p:nvPr/>
        </p:nvSpPr>
        <p:spPr>
          <a:xfrm rot="0">
            <a:off x="1166168" y="1014810"/>
            <a:ext cx="10709538" cy="1038402"/>
          </a:xfrm>
          <a:prstGeom prst="rect">
            <a:avLst/>
          </a:prstGeom>
        </p:spPr>
        <p:txBody>
          <a:bodyPr anchor="t" rtlCol="false" tIns="0" lIns="0" bIns="0" rIns="0">
            <a:spAutoFit/>
          </a:bodyPr>
          <a:lstStyle/>
          <a:p>
            <a:pPr algn="ctr">
              <a:lnSpc>
                <a:spcPts val="6463"/>
              </a:lnSpc>
            </a:pPr>
            <a:r>
              <a:rPr lang="en-US" b="true" sz="7262">
                <a:solidFill>
                  <a:srgbClr val="034697"/>
                </a:solidFill>
                <a:latin typeface="Futura Bold"/>
                <a:ea typeface="Futura Bold"/>
                <a:cs typeface="Futura Bold"/>
                <a:sym typeface="Futura Bold"/>
              </a:rPr>
              <a:t>FUTURE ENHANCMENTS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4663812" y="2642711"/>
            <a:ext cx="8960375" cy="1209456"/>
          </a:xfrm>
          <a:prstGeom prst="rect">
            <a:avLst/>
          </a:prstGeom>
        </p:spPr>
        <p:txBody>
          <a:bodyPr anchor="t" rtlCol="false" tIns="0" lIns="0" bIns="0" rIns="0">
            <a:spAutoFit/>
          </a:bodyPr>
          <a:lstStyle/>
          <a:p>
            <a:pPr algn="ctr">
              <a:lnSpc>
                <a:spcPts val="7531"/>
              </a:lnSpc>
            </a:pPr>
            <a:r>
              <a:rPr lang="en-US" b="true" sz="8462">
                <a:solidFill>
                  <a:srgbClr val="034697"/>
                </a:solidFill>
                <a:latin typeface="Futura Bold"/>
                <a:ea typeface="Futura Bold"/>
                <a:cs typeface="Futura Bold"/>
                <a:sym typeface="Futura Bold"/>
              </a:rPr>
              <a:t>LINKS</a:t>
            </a:r>
          </a:p>
        </p:txBody>
      </p:sp>
      <p:sp>
        <p:nvSpPr>
          <p:cNvPr name="TextBox 11" id="11"/>
          <p:cNvSpPr txBox="true"/>
          <p:nvPr/>
        </p:nvSpPr>
        <p:spPr>
          <a:xfrm rot="0">
            <a:off x="3420067" y="4390643"/>
            <a:ext cx="12603956" cy="2383790"/>
          </a:xfrm>
          <a:prstGeom prst="rect">
            <a:avLst/>
          </a:prstGeom>
        </p:spPr>
        <p:txBody>
          <a:bodyPr anchor="t" rtlCol="false" tIns="0" lIns="0" bIns="0" rIns="0">
            <a:spAutoFit/>
          </a:bodyPr>
          <a:lstStyle/>
          <a:p>
            <a:pPr algn="l" marL="734059" indent="-367030" lvl="1">
              <a:lnSpc>
                <a:spcPts val="6459"/>
              </a:lnSpc>
              <a:buFont typeface="Arial"/>
              <a:buChar char="•"/>
            </a:pPr>
            <a:r>
              <a:rPr lang="en-US" sz="3399">
                <a:solidFill>
                  <a:srgbClr val="034697"/>
                </a:solidFill>
                <a:latin typeface="Varela Round"/>
                <a:ea typeface="Varela Round"/>
                <a:cs typeface="Varela Round"/>
                <a:sym typeface="Varela Round"/>
              </a:rPr>
              <a:t>Live demo: </a:t>
            </a:r>
            <a:r>
              <a:rPr lang="en-US" sz="3399" u="sng">
                <a:solidFill>
                  <a:srgbClr val="034697"/>
                </a:solidFill>
                <a:latin typeface="Varela Round"/>
                <a:ea typeface="Varela Round"/>
                <a:cs typeface="Varela Round"/>
                <a:sym typeface="Varela Round"/>
                <a:hlinkClick r:id="rId10" tooltip="https://quiz-craze-pi.vercel.app"/>
              </a:rPr>
              <a:t>https://quiz-craze-pi.vercel.app</a:t>
            </a:r>
          </a:p>
          <a:p>
            <a:pPr algn="l" marL="734059" indent="-367030" lvl="1">
              <a:lnSpc>
                <a:spcPts val="6459"/>
              </a:lnSpc>
              <a:buFont typeface="Arial"/>
              <a:buChar char="•"/>
            </a:pPr>
            <a:r>
              <a:rPr lang="en-US" sz="3399">
                <a:solidFill>
                  <a:srgbClr val="034697"/>
                </a:solidFill>
                <a:latin typeface="Varela Round"/>
                <a:ea typeface="Varela Round"/>
                <a:cs typeface="Varela Round"/>
                <a:sym typeface="Varela Round"/>
              </a:rPr>
              <a:t>GitHub repository: </a:t>
            </a:r>
            <a:r>
              <a:rPr lang="en-US" sz="3399" u="sng">
                <a:solidFill>
                  <a:srgbClr val="034697"/>
                </a:solidFill>
                <a:latin typeface="Varela Round"/>
                <a:ea typeface="Varela Round"/>
                <a:cs typeface="Varela Round"/>
                <a:sym typeface="Varela Round"/>
                <a:hlinkClick r:id="rId11" tooltip="https://github.com/danielace1/quiz-app-for-college"/>
              </a:rPr>
              <a:t>quiz-app-for-college</a:t>
            </a:r>
          </a:p>
          <a:p>
            <a:pPr algn="l">
              <a:lnSpc>
                <a:spcPts val="6459"/>
              </a:lnSpc>
            </a:pP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7F9FF"/>
        </a:solidFill>
      </p:bgPr>
    </p:bg>
    <p:spTree>
      <p:nvGrpSpPr>
        <p:cNvPr id="1" name=""/>
        <p:cNvGrpSpPr/>
        <p:nvPr/>
      </p:nvGrpSpPr>
      <p:grpSpPr>
        <a:xfrm>
          <a:off x="0" y="0"/>
          <a:ext cx="0" cy="0"/>
          <a:chOff x="0" y="0"/>
          <a:chExt cx="0" cy="0"/>
        </a:xfrm>
      </p:grpSpPr>
      <p:sp>
        <p:nvSpPr>
          <p:cNvPr name="Freeform 2" id="2"/>
          <p:cNvSpPr/>
          <p:nvPr/>
        </p:nvSpPr>
        <p:spPr>
          <a:xfrm flipH="false" flipV="true" rot="0">
            <a:off x="17259300" y="3611365"/>
            <a:ext cx="2813200" cy="5646935"/>
          </a:xfrm>
          <a:custGeom>
            <a:avLst/>
            <a:gdLst/>
            <a:ahLst/>
            <a:cxnLst/>
            <a:rect r="r" b="b" t="t" l="l"/>
            <a:pathLst>
              <a:path h="5646935" w="2813200">
                <a:moveTo>
                  <a:pt x="0" y="5646935"/>
                </a:moveTo>
                <a:lnTo>
                  <a:pt x="2813200" y="5646935"/>
                </a:lnTo>
                <a:lnTo>
                  <a:pt x="2813200" y="0"/>
                </a:lnTo>
                <a:lnTo>
                  <a:pt x="0" y="0"/>
                </a:lnTo>
                <a:lnTo>
                  <a:pt x="0" y="564693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5400000">
            <a:off x="14257262" y="-3201368"/>
            <a:ext cx="2813200" cy="5646935"/>
          </a:xfrm>
          <a:custGeom>
            <a:avLst/>
            <a:gdLst/>
            <a:ahLst/>
            <a:cxnLst/>
            <a:rect r="r" b="b" t="t" l="l"/>
            <a:pathLst>
              <a:path h="5646935" w="2813200">
                <a:moveTo>
                  <a:pt x="2813201" y="5646935"/>
                </a:moveTo>
                <a:lnTo>
                  <a:pt x="0" y="5646935"/>
                </a:lnTo>
                <a:lnTo>
                  <a:pt x="0" y="0"/>
                </a:lnTo>
                <a:lnTo>
                  <a:pt x="2813201" y="0"/>
                </a:lnTo>
                <a:lnTo>
                  <a:pt x="2813201" y="5646935"/>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400000">
            <a:off x="1038967" y="7841433"/>
            <a:ext cx="2813200" cy="5646935"/>
          </a:xfrm>
          <a:custGeom>
            <a:avLst/>
            <a:gdLst/>
            <a:ahLst/>
            <a:cxnLst/>
            <a:rect r="r" b="b" t="t" l="l"/>
            <a:pathLst>
              <a:path h="5646935" w="2813200">
                <a:moveTo>
                  <a:pt x="0" y="0"/>
                </a:moveTo>
                <a:lnTo>
                  <a:pt x="2813200" y="0"/>
                </a:lnTo>
                <a:lnTo>
                  <a:pt x="2813200" y="5646935"/>
                </a:lnTo>
                <a:lnTo>
                  <a:pt x="0" y="564693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784500" y="1028700"/>
            <a:ext cx="2813200" cy="5646935"/>
          </a:xfrm>
          <a:custGeom>
            <a:avLst/>
            <a:gdLst/>
            <a:ahLst/>
            <a:cxnLst/>
            <a:rect r="r" b="b" t="t" l="l"/>
            <a:pathLst>
              <a:path h="5646935" w="2813200">
                <a:moveTo>
                  <a:pt x="2813200" y="0"/>
                </a:moveTo>
                <a:lnTo>
                  <a:pt x="0" y="0"/>
                </a:lnTo>
                <a:lnTo>
                  <a:pt x="0" y="5646935"/>
                </a:lnTo>
                <a:lnTo>
                  <a:pt x="2813200" y="5646935"/>
                </a:lnTo>
                <a:lnTo>
                  <a:pt x="281320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926064" y="7429986"/>
            <a:ext cx="1954764" cy="2437914"/>
          </a:xfrm>
          <a:custGeom>
            <a:avLst/>
            <a:gdLst/>
            <a:ahLst/>
            <a:cxnLst/>
            <a:rect r="r" b="b" t="t" l="l"/>
            <a:pathLst>
              <a:path h="2437914" w="1954764">
                <a:moveTo>
                  <a:pt x="0" y="0"/>
                </a:moveTo>
                <a:lnTo>
                  <a:pt x="1954764" y="0"/>
                </a:lnTo>
                <a:lnTo>
                  <a:pt x="1954764" y="2437914"/>
                </a:lnTo>
                <a:lnTo>
                  <a:pt x="0" y="243791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true" rot="0">
            <a:off x="17259300" y="557698"/>
            <a:ext cx="1954764" cy="2437914"/>
          </a:xfrm>
          <a:custGeom>
            <a:avLst/>
            <a:gdLst/>
            <a:ahLst/>
            <a:cxnLst/>
            <a:rect r="r" b="b" t="t" l="l"/>
            <a:pathLst>
              <a:path h="2437914" w="1954764">
                <a:moveTo>
                  <a:pt x="0" y="2437914"/>
                </a:moveTo>
                <a:lnTo>
                  <a:pt x="1954764" y="2437914"/>
                </a:lnTo>
                <a:lnTo>
                  <a:pt x="1954764" y="0"/>
                </a:lnTo>
                <a:lnTo>
                  <a:pt x="0" y="0"/>
                </a:lnTo>
                <a:lnTo>
                  <a:pt x="0" y="2437914"/>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373350" y="557698"/>
            <a:ext cx="1885950" cy="942975"/>
          </a:xfrm>
          <a:custGeom>
            <a:avLst/>
            <a:gdLst/>
            <a:ahLst/>
            <a:cxnLst/>
            <a:rect r="r" b="b" t="t" l="l"/>
            <a:pathLst>
              <a:path h="942975" w="1885950">
                <a:moveTo>
                  <a:pt x="0" y="0"/>
                </a:moveTo>
                <a:lnTo>
                  <a:pt x="1885950" y="0"/>
                </a:lnTo>
                <a:lnTo>
                  <a:pt x="1885950" y="942975"/>
                </a:lnTo>
                <a:lnTo>
                  <a:pt x="0" y="9429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true" rot="0">
            <a:off x="883444" y="8924925"/>
            <a:ext cx="1885950" cy="942975"/>
          </a:xfrm>
          <a:custGeom>
            <a:avLst/>
            <a:gdLst/>
            <a:ahLst/>
            <a:cxnLst/>
            <a:rect r="r" b="b" t="t" l="l"/>
            <a:pathLst>
              <a:path h="942975" w="1885950">
                <a:moveTo>
                  <a:pt x="0" y="942975"/>
                </a:moveTo>
                <a:lnTo>
                  <a:pt x="1885950" y="942975"/>
                </a:lnTo>
                <a:lnTo>
                  <a:pt x="1885950" y="0"/>
                </a:lnTo>
                <a:lnTo>
                  <a:pt x="0" y="0"/>
                </a:lnTo>
                <a:lnTo>
                  <a:pt x="0" y="942975"/>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327384" y="3607558"/>
            <a:ext cx="11633233" cy="3186184"/>
          </a:xfrm>
          <a:prstGeom prst="rect">
            <a:avLst/>
          </a:prstGeom>
        </p:spPr>
        <p:txBody>
          <a:bodyPr anchor="t" rtlCol="false" tIns="0" lIns="0" bIns="0" rIns="0">
            <a:spAutoFit/>
          </a:bodyPr>
          <a:lstStyle/>
          <a:p>
            <a:pPr algn="ctr">
              <a:lnSpc>
                <a:spcPts val="11106"/>
              </a:lnSpc>
            </a:pPr>
            <a:r>
              <a:rPr lang="en-US" b="true" sz="12479">
                <a:solidFill>
                  <a:srgbClr val="034697"/>
                </a:solidFill>
                <a:latin typeface="Futura Bold"/>
                <a:ea typeface="Futura Bold"/>
                <a:cs typeface="Futura Bold"/>
                <a:sym typeface="Futura Bold"/>
              </a:rPr>
              <a:t>THANK</a:t>
            </a:r>
          </a:p>
          <a:p>
            <a:pPr algn="ctr">
              <a:lnSpc>
                <a:spcPts val="11106"/>
              </a:lnSpc>
            </a:pPr>
            <a:r>
              <a:rPr lang="en-US" b="true" sz="12479">
                <a:solidFill>
                  <a:srgbClr val="034697"/>
                </a:solidFill>
                <a:latin typeface="Futura Bold"/>
                <a:ea typeface="Futura Bold"/>
                <a:cs typeface="Futura Bold"/>
                <a:sym typeface="Futura 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DAG2nk4M2vc</dc:identifier>
  <dcterms:modified xsi:type="dcterms:W3CDTF">2011-08-01T06:04:30Z</dcterms:modified>
  <cp:revision>1</cp:revision>
  <dc:title>Quiz Craze</dc:title>
</cp:coreProperties>
</file>